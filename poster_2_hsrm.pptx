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sldIdLst>
    <p:sldId id="264" r:id="rId7"/>
  </p:sldIdLst>
  <p:sldSz cx="30492700" cy="43019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C31"/>
    <a:srgbClr val="1F2D32"/>
    <a:srgbClr val="21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6"/>
    <p:restoredTop sz="94694"/>
  </p:normalViewPr>
  <p:slideViewPr>
    <p:cSldViewPr snapToGrid="0">
      <p:cViewPr>
        <p:scale>
          <a:sx n="54" d="100"/>
          <a:sy n="54" d="100"/>
        </p:scale>
        <p:origin x="1376" y="-2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  <a:p>
            <a:pPr>
              <a:lnSpc>
                <a:spcPts val="3375"/>
              </a:lnSpc>
            </a:pPr>
            <a:br>
              <a:rPr lang="de-DE" dirty="0">
                <a:effectLst/>
                <a:latin typeface="Barlow" pitchFamily="2" charset="77"/>
              </a:rPr>
            </a:b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7200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121BA24C-EAA1-D15F-2378-EA88BE41A4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7200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63A72105-6949-4D3C-9F1C-3DC656B7C9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A539C70B-978F-B421-555A-571659146E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60033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D6DD2547-CCB3-CDFC-D75C-8FA0A0FEFE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232305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4" name="Bildplatzhalter 10">
            <a:extLst>
              <a:ext uri="{FF2B5EF4-FFF2-40B4-BE49-F238E27FC236}">
                <a16:creationId xmlns:a16="http://schemas.microsoft.com/office/drawing/2014/main" id="{E5D0F8A4-80E6-D1F8-6204-FDECD3B90C6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87758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5" name="Bildplatzhalter 10">
            <a:extLst>
              <a:ext uri="{FF2B5EF4-FFF2-40B4-BE49-F238E27FC236}">
                <a16:creationId xmlns:a16="http://schemas.microsoft.com/office/drawing/2014/main" id="{9A0AA88C-B5F6-770F-5DAF-96D162796E5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60033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6" name="Bildplatzhalter 10">
            <a:extLst>
              <a:ext uri="{FF2B5EF4-FFF2-40B4-BE49-F238E27FC236}">
                <a16:creationId xmlns:a16="http://schemas.microsoft.com/office/drawing/2014/main" id="{92809CED-02AE-9F42-578F-B519F6AF012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232305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6" name="Bildplatzhalter 10">
            <a:extLst>
              <a:ext uri="{FF2B5EF4-FFF2-40B4-BE49-F238E27FC236}">
                <a16:creationId xmlns:a16="http://schemas.microsoft.com/office/drawing/2014/main" id="{F24D0617-6D06-BDE1-1C1A-F482589AE35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232305" y="2051293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2698876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9"/>
            <a:ext cx="18745702" cy="1251815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3375"/>
              </a:lnSpc>
              <a:spcBef>
                <a:spcPts val="0"/>
              </a:spcBef>
              <a:buNone/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6"/>
            <a:ext cx="6758386" cy="2640813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376742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770606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5519" y="27988503"/>
            <a:ext cx="16188141" cy="3799066"/>
          </a:xfrm>
          <a:solidFill>
            <a:schemeClr val="bg1"/>
          </a:solidFill>
        </p:spPr>
        <p:txBody>
          <a:bodyPr lIns="540000" rIns="540000" bIns="360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5000" b="1" i="0">
                <a:solidFill>
                  <a:srgbClr val="202C31"/>
                </a:solidFill>
                <a:latin typeface="Barlow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Ihr Projekt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6359227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B37FBE-4D6F-9BD5-117E-62052F63119B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</p:spTree>
    <p:extLst>
      <p:ext uri="{BB962C8B-B14F-4D97-AF65-F5344CB8AC3E}">
        <p14:creationId xmlns:p14="http://schemas.microsoft.com/office/powerpoint/2010/main" val="3992373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>
          <p15:clr>
            <a:srgbClr val="FBAE40"/>
          </p15:clr>
        </p15:guide>
        <p15:guide id="2" pos="67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6:9 Bild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  <a:p>
            <a:pPr>
              <a:lnSpc>
                <a:spcPts val="3375"/>
              </a:lnSpc>
            </a:pPr>
            <a:br>
              <a:rPr lang="de-DE" dirty="0">
                <a:effectLst/>
                <a:latin typeface="Barlow" pitchFamily="2" charset="77"/>
              </a:rPr>
            </a:b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5448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6670632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17758778"/>
            <a:ext cx="9173429" cy="15597612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3370065"/>
            <a:ext cx="18745702" cy="9986325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6"/>
            <a:ext cx="6758386" cy="2526513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411033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804897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4510012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213718D-9EBE-75DE-A8BE-FD339C41FDE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175518" y="26191597"/>
            <a:ext cx="16969030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18" name="Inhaltsplatzhalter 16">
            <a:extLst>
              <a:ext uri="{FF2B5EF4-FFF2-40B4-BE49-F238E27FC236}">
                <a16:creationId xmlns:a16="http://schemas.microsoft.com/office/drawing/2014/main" id="{BBADA07D-F946-173A-5D74-8DBABF4151A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5518" y="29461160"/>
            <a:ext cx="24587522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93587" y="26179871"/>
            <a:ext cx="24587522" cy="5895707"/>
          </a:xfr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8000" b="1" i="0" u="none" baseline="0">
                <a:ln>
                  <a:noFill/>
                </a:ln>
                <a:solidFill>
                  <a:srgbClr val="202C31"/>
                </a:solidFill>
                <a:uFill>
                  <a:solidFill>
                    <a:srgbClr val="FF0000"/>
                  </a:solidFill>
                </a:uFill>
                <a:latin typeface="Barlow ExtraBold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Anordnung </a:t>
            </a:r>
            <a:r>
              <a:rPr lang="de-DE" dirty="0" err="1"/>
              <a:t>Bsp</a:t>
            </a:r>
            <a:endParaRPr lang="de-DE" dirty="0"/>
          </a:p>
          <a:p>
            <a:pPr lvl="0"/>
            <a:r>
              <a:rPr lang="de-DE" dirty="0"/>
              <a:t>Mit 16:9 Format Bildern</a:t>
            </a:r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D8B3562A-1AD2-C569-2EFA-275430154D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87759" y="12227130"/>
            <a:ext cx="18745702" cy="10724221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7F798A80-AE0F-522E-BDA1-46F451DFB45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660032" y="1085448"/>
            <a:ext cx="18745702" cy="10722969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6F5447-C85B-04FE-0ECA-F82B5FFD8871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4B0B13BE-F3FF-9F6B-9957-3AED6582D25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0231512" y="12227130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9957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>
          <p15:clr>
            <a:srgbClr val="FBAE40"/>
          </p15:clr>
        </p15:guide>
        <p15:guide id="2" pos="67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5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121BA24C-EAA1-D15F-2378-EA88BE41A4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63A72105-6949-4D3C-9F1C-3DC656B7C9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A539C70B-978F-B421-555A-571659146E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60033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D6DD2547-CCB3-CDFC-D75C-8FA0A0FEFE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232305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4" name="Bildplatzhalter 10">
            <a:extLst>
              <a:ext uri="{FF2B5EF4-FFF2-40B4-BE49-F238E27FC236}">
                <a16:creationId xmlns:a16="http://schemas.microsoft.com/office/drawing/2014/main" id="{E5D0F8A4-80E6-D1F8-6204-FDECD3B90C6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87758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5" name="Bildplatzhalter 10">
            <a:extLst>
              <a:ext uri="{FF2B5EF4-FFF2-40B4-BE49-F238E27FC236}">
                <a16:creationId xmlns:a16="http://schemas.microsoft.com/office/drawing/2014/main" id="{9A0AA88C-B5F6-770F-5DAF-96D162796E5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60033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6" name="Bildplatzhalter 10">
            <a:extLst>
              <a:ext uri="{FF2B5EF4-FFF2-40B4-BE49-F238E27FC236}">
                <a16:creationId xmlns:a16="http://schemas.microsoft.com/office/drawing/2014/main" id="{92809CED-02AE-9F42-578F-B519F6AF012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232305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20512939"/>
            <a:ext cx="9173429" cy="12590517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8"/>
            <a:ext cx="18745702" cy="12590517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3375"/>
              </a:lnSpc>
              <a:spcBef>
                <a:spcPts val="0"/>
              </a:spcBef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7"/>
            <a:ext cx="6758386" cy="2438964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244284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638148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4241077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213718D-9EBE-75DE-A8BE-FD339C41FDE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175518" y="25922662"/>
            <a:ext cx="18745703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18" name="Inhaltsplatzhalter 16">
            <a:extLst>
              <a:ext uri="{FF2B5EF4-FFF2-40B4-BE49-F238E27FC236}">
                <a16:creationId xmlns:a16="http://schemas.microsoft.com/office/drawing/2014/main" id="{BBADA07D-F946-173A-5D74-8DBABF4151A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5519" y="29192225"/>
            <a:ext cx="21677573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93587" y="25910936"/>
            <a:ext cx="24587522" cy="5895707"/>
          </a:xfr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8000" b="1" i="0" u="none" baseline="0">
                <a:ln>
                  <a:noFill/>
                </a:ln>
                <a:solidFill>
                  <a:srgbClr val="202C31"/>
                </a:solidFill>
                <a:uFill>
                  <a:solidFill>
                    <a:srgbClr val="FF0000"/>
                  </a:solidFill>
                </a:uFill>
                <a:latin typeface="Barlow ExtraBold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Projekt-Headline</a:t>
            </a:r>
          </a:p>
          <a:p>
            <a:pPr lvl="0"/>
            <a:r>
              <a:rPr lang="de-DE" dirty="0"/>
              <a:t>mit zwei Zeilen Text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E9216D5-CF31-4724-A88B-F7E98213F2CA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</p:spTree>
    <p:extLst>
      <p:ext uri="{BB962C8B-B14F-4D97-AF65-F5344CB8AC3E}">
        <p14:creationId xmlns:p14="http://schemas.microsoft.com/office/powerpoint/2010/main" val="64542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 userDrawn="1">
          <p15:clr>
            <a:srgbClr val="FBAE40"/>
          </p15:clr>
        </p15:guide>
        <p15:guide id="2" pos="673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6373" y="2290408"/>
            <a:ext cx="26299954" cy="8315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6373" y="11451994"/>
            <a:ext cx="26299954" cy="2729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46FFDE-4EBA-3FF6-FD7E-6289064A7EC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3581894" y="40138797"/>
            <a:ext cx="6321525" cy="254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0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62" r:id="rId3"/>
  </p:sldLayoutIdLst>
  <p:txStyles>
    <p:titleStyle>
      <a:lvl1pPr algn="l" defTabSz="3049250" rtl="0" eaLnBrk="1" latinLnBrk="0" hangingPunct="1">
        <a:lnSpc>
          <a:spcPct val="90000"/>
        </a:lnSpc>
        <a:spcBef>
          <a:spcPct val="0"/>
        </a:spcBef>
        <a:buNone/>
        <a:defRPr sz="14673" b="1" i="0" kern="1200">
          <a:solidFill>
            <a:schemeClr val="tx1"/>
          </a:solidFill>
          <a:latin typeface="Barlow" pitchFamily="2" charset="77"/>
          <a:ea typeface="+mj-ea"/>
          <a:cs typeface="+mj-cs"/>
        </a:defRPr>
      </a:lvl1pPr>
    </p:titleStyle>
    <p:bodyStyle>
      <a:lvl1pPr marL="0" indent="0" algn="l" defTabSz="304925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1524625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3049250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4573875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6098500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8385437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6pPr>
      <a:lvl7pPr marL="9910061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7pPr>
      <a:lvl8pPr marL="11434686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8pPr>
      <a:lvl9pPr marL="12959311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1pPr>
      <a:lvl2pPr marL="1524625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2pPr>
      <a:lvl3pPr marL="3049250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3pPr>
      <a:lvl4pPr marL="4573875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4pPr>
      <a:lvl5pPr marL="609849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5pPr>
      <a:lvl6pPr marL="7623124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6pPr>
      <a:lvl7pPr marL="914774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7pPr>
      <a:lvl8pPr marL="10672374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8pPr>
      <a:lvl9pPr marL="1219699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Untertitel 15">
            <a:extLst>
              <a:ext uri="{FF2B5EF4-FFF2-40B4-BE49-F238E27FC236}">
                <a16:creationId xmlns:a16="http://schemas.microsoft.com/office/drawing/2014/main" id="{10AF8D49-1819-3F89-A6F9-72ADE2427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518" y="34191597"/>
            <a:ext cx="17657944" cy="5225755"/>
          </a:xfrm>
        </p:spPr>
        <p:txBody>
          <a:bodyPr/>
          <a:lstStyle/>
          <a:p>
            <a:r>
              <a:rPr lang="de-DE" dirty="0"/>
              <a:t>Python · K-Means Clustering · 3 Test-Websites · 47 Unterseiten</a:t>
            </a:r>
          </a:p>
          <a:p>
            <a:r>
              <a:rPr lang="de-DE" dirty="0"/>
              <a:t>6 Merkmale: DOM-Tiefe · Knoten · Links · Text · Medien · Formulare</a:t>
            </a:r>
          </a:p>
          <a:p>
            <a:r>
              <a:rPr lang="de-DE" dirty="0"/>
              <a:t>Forschungsfrage: Lässt sich Website-Komplexität automatisch messen und klassifizieren, ohne manuelle Inspektion?</a:t>
            </a:r>
          </a:p>
          <a:p>
            <a:r>
              <a:rPr lang="de-DE" dirty="0"/>
              <a:t>Ergebnis: Drei Seitentypen vollautomatisch erkannt. Zwei Merkmale reichen zur Klassifikation. Kein einziges manuell vergebenes Label nötig.</a:t>
            </a:r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71457492-06FE-C3CE-42B3-DD527F1231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5517" y="40445230"/>
            <a:ext cx="17657944" cy="1421597"/>
          </a:xfrm>
        </p:spPr>
        <p:txBody>
          <a:bodyPr/>
          <a:lstStyle/>
          <a:p>
            <a:r>
              <a:rPr lang="de-DE" dirty="0"/>
              <a:t>Jonas Kimmer  //  Hochschule RheinMain  //  Wirtschaftsinformatik M.Sc.  //  2026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F0EDE3C3-2096-6265-5FA6-BE45C7D500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647059" y="34112825"/>
            <a:ext cx="6758386" cy="393863"/>
          </a:xfrm>
        </p:spPr>
        <p:txBody>
          <a:bodyPr/>
          <a:lstStyle/>
          <a:p>
            <a:r>
              <a:rPr lang="de-DE" dirty="0"/>
              <a:t>Seminarkontext</a:t>
            </a:r>
          </a:p>
        </p:txBody>
      </p:sp>
      <p:sp>
        <p:nvSpPr>
          <p:cNvPr id="60" name="Textplatzhalter 59">
            <a:extLst>
              <a:ext uri="{FF2B5EF4-FFF2-40B4-BE49-F238E27FC236}">
                <a16:creationId xmlns:a16="http://schemas.microsoft.com/office/drawing/2014/main" id="{EE681113-94C6-A232-4486-9D67926801D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647059" y="34506687"/>
            <a:ext cx="6758386" cy="2245048"/>
          </a:xfrm>
        </p:spPr>
        <p:txBody>
          <a:bodyPr/>
          <a:lstStyle/>
          <a:p>
            <a:r>
              <a:rPr lang="de-DE" dirty="0"/>
              <a:t>Masterprojekt · Wirtschaftsinformatik M.Sc. · HSRM Wiesbaden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9FA866B-F9BF-FBE4-82A1-DE7AB7EEFE4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647059" y="37062417"/>
            <a:ext cx="6758386" cy="393863"/>
          </a:xfrm>
        </p:spPr>
        <p:txBody>
          <a:bodyPr/>
          <a:lstStyle/>
          <a:p>
            <a:r>
              <a:rPr lang="de-DE" dirty="0"/>
              <a:t>Betreuung</a:t>
            </a:r>
          </a:p>
        </p:txBody>
      </p:sp>
      <p:sp>
        <p:nvSpPr>
          <p:cNvPr id="62" name="Textplatzhalter 61">
            <a:extLst>
              <a:ext uri="{FF2B5EF4-FFF2-40B4-BE49-F238E27FC236}">
                <a16:creationId xmlns:a16="http://schemas.microsoft.com/office/drawing/2014/main" id="{424BF29D-A7B6-DB1F-D96D-B2CEF10E204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647059" y="37456281"/>
            <a:ext cx="6758386" cy="573321"/>
          </a:xfrm>
        </p:spPr>
        <p:txBody>
          <a:bodyPr/>
          <a:lstStyle/>
          <a:p>
            <a:r>
              <a:rPr lang="de-DE" dirty="0"/>
              <a:t>M.Sc. Yasmina Tajja / HSRM Wirtschaftsinformatik</a:t>
            </a:r>
          </a:p>
        </p:txBody>
      </p:sp>
      <p:sp>
        <p:nvSpPr>
          <p:cNvPr id="81" name="Textplatzhalter 80">
            <a:extLst>
              <a:ext uri="{FF2B5EF4-FFF2-40B4-BE49-F238E27FC236}">
                <a16:creationId xmlns:a16="http://schemas.microsoft.com/office/drawing/2014/main" id="{C71C0079-C8FC-D859-FEC4-2CB115A3593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75519" y="27988503"/>
            <a:ext cx="16188141" cy="3799066"/>
          </a:xfrm>
        </p:spPr>
        <p:txBody>
          <a:bodyPr/>
          <a:lstStyle/>
          <a:p>
            <a:r>
              <a:rPr lang="de-DE" dirty="0"/>
              <a:t>Wie komplex ist eine</a:t>
            </a:r>
          </a:p>
          <a:p>
            <a:r>
              <a:rPr lang="de-DE" dirty="0"/>
              <a:t>Website wirklich?</a:t>
            </a:r>
          </a:p>
        </p:txBody>
      </p:sp>
      <p:sp>
        <p:nvSpPr>
          <p:cNvPr id="201" name="Textplatzhalter 200">
            <a:extLst>
              <a:ext uri="{FF2B5EF4-FFF2-40B4-BE49-F238E27FC236}">
                <a16:creationId xmlns:a16="http://schemas.microsoft.com/office/drawing/2014/main" id="{85CA93FD-46C2-4999-5DEA-0B7FEC2EA7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Masterprojekt · Wirtschaftsinformatik M.Sc.</a:t>
            </a:r>
          </a:p>
        </p:txBody>
      </p:sp>
      <p:pic>
        <p:nvPicPr>
          <p:cNvPr id="202" name="Picture 201" descr="paper2_abb2_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28080000" cy="15480000"/>
          </a:xfrm>
          <a:prstGeom prst="rect">
            <a:avLst/>
          </a:prstGeom>
        </p:spPr>
      </p:pic>
      <p:sp>
        <p:nvSpPr>
          <p:cNvPr id="203" name="Rectangle 20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080000" y="17280000"/>
            <a:ext cx="9000000" cy="5760000"/>
          </a:xfr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62000" bIns="125999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① Zwei Merkmale reichen</a:t>
            </a:r>
          </a:p>
          <a:p>
            <a:r>
              <a:rPr sz="1900" b="0">
                <a:solidFill>
                  <a:srgbClr val="FFFFFF"/>
                </a:solidFill>
              </a:rPr>
              <a:t>Linkanzahl + DOM-Tiefe</a:t>
            </a:r>
          </a:p>
          <a:p>
            <a:r>
              <a:rPr sz="1900" b="0">
                <a:solidFill>
                  <a:srgbClr val="FFFFFF"/>
                </a:solidFill>
              </a:rPr>
              <a:t>genügen zur Klassifikation.</a:t>
            </a:r>
          </a:p>
          <a:p>
            <a:r>
              <a:rPr sz="1900" b="0">
                <a:solidFill>
                  <a:srgbClr val="FFFFFF"/>
                </a:solidFill>
              </a:rPr>
              <a:t>Alle anderen zweitrangig.</a:t>
            </a:r>
          </a:p>
        </p:txBody>
      </p:sp>
      <p:sp>
        <p:nvSpPr>
          <p:cNvPr id="204" name="Rectangle 203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0620000" y="17280000"/>
            <a:ext cx="9000000" cy="5760000"/>
          </a:xfr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62000" bIns="125999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② Kein Label von Hand</a:t>
            </a:r>
          </a:p>
          <a:p>
            <a:r>
              <a:rPr sz="1900" b="0">
                <a:solidFill>
                  <a:srgbClr val="FFFFFF"/>
                </a:solidFill>
              </a:rPr>
              <a:t>Normales ML braucht manuelle</a:t>
            </a:r>
          </a:p>
          <a:p>
            <a:r>
              <a:rPr sz="1900" b="0">
                <a:solidFill>
                  <a:srgbClr val="FFFFFF"/>
                </a:solidFill>
              </a:rPr>
              <a:t>Beispiele. Hier klassifiziert</a:t>
            </a:r>
          </a:p>
          <a:p>
            <a:r>
              <a:rPr sz="1900" b="0">
                <a:solidFill>
                  <a:srgbClr val="FFFFFF"/>
                </a:solidFill>
              </a:rPr>
              <a:t>der Algorithmus vollständig selbst.</a:t>
            </a:r>
          </a:p>
        </p:txBody>
      </p:sp>
      <p:sp>
        <p:nvSpPr>
          <p:cNvPr id="205" name="Rectangle 20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0160000" y="17280000"/>
            <a:ext cx="9360000" cy="5760000"/>
          </a:xfr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62000" bIns="125999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③ Formulare? Fast egal.</a:t>
            </a:r>
          </a:p>
          <a:p>
            <a:r>
              <a:rPr sz="1900" b="0">
                <a:solidFill>
                  <a:srgbClr val="FFFFFF"/>
                </a:solidFill>
              </a:rPr>
              <a:t>Stärkste Interaktion, aber</a:t>
            </a:r>
          </a:p>
          <a:p>
            <a:r>
              <a:rPr sz="1900" b="0">
                <a:solidFill>
                  <a:srgbClr val="FFFFFF"/>
                </a:solidFill>
              </a:rPr>
              <a:t>erklärt Komplexität am wenigsten.</a:t>
            </a:r>
          </a:p>
          <a:p>
            <a:r>
              <a:rPr sz="1900" b="0">
                <a:solidFill>
                  <a:srgbClr val="FFFFFF"/>
                </a:solidFill>
              </a:rPr>
              <a:t>Strukturmerkmale dominieren.</a:t>
            </a:r>
          </a:p>
        </p:txBody>
      </p:sp>
    </p:spTree>
    <p:extLst>
      <p:ext uri="{BB962C8B-B14F-4D97-AF65-F5344CB8AC3E}">
        <p14:creationId xmlns:p14="http://schemas.microsoft.com/office/powerpoint/2010/main" val="1317133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1584</Words>
  <Application>Microsoft Macintosh PowerPoint</Application>
  <PresentationFormat>Benutzerdefiniert</PresentationFormat>
  <Paragraphs>54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Barlow</vt:lpstr>
      <vt:lpstr>Barlow ExtraBold</vt:lpstr>
      <vt:lpstr>Barlow Medium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Pedersen</dc:creator>
  <cp:lastModifiedBy>Sebastian Pedersen</cp:lastModifiedBy>
  <cp:revision>23</cp:revision>
  <cp:lastPrinted>2025-01-26T21:51:04Z</cp:lastPrinted>
  <dcterms:created xsi:type="dcterms:W3CDTF">2025-01-25T18:47:30Z</dcterms:created>
  <dcterms:modified xsi:type="dcterms:W3CDTF">2025-12-04T17:38:25Z</dcterms:modified>
</cp:coreProperties>
</file>