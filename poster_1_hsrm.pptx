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sldIdLst>
    <p:sldId id="263" r:id="rId3"/>
  </p:sldIdLst>
  <p:sldSz cx="30492700" cy="43019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C31"/>
    <a:srgbClr val="1F2D32"/>
    <a:srgbClr val="21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6"/>
    <p:restoredTop sz="94694"/>
  </p:normalViewPr>
  <p:slideViewPr>
    <p:cSldViewPr snapToGrid="0">
      <p:cViewPr>
        <p:scale>
          <a:sx n="54" d="100"/>
          <a:sy n="54" d="100"/>
        </p:scale>
        <p:origin x="1376" y="-2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line 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7200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6" name="Bildplatzhalter 10">
            <a:extLst>
              <a:ext uri="{FF2B5EF4-FFF2-40B4-BE49-F238E27FC236}">
                <a16:creationId xmlns:a16="http://schemas.microsoft.com/office/drawing/2014/main" id="{F24D0617-6D06-BDE1-1C1A-F482589AE35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232305" y="2051293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698876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9"/>
            <a:ext cx="18745702" cy="1251815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ts val="3375"/>
              </a:lnSpc>
              <a:spcBef>
                <a:spcPts val="0"/>
              </a:spcBef>
              <a:buNone/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6408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376742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770606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5519" y="27988503"/>
            <a:ext cx="16188141" cy="3799066"/>
          </a:xfrm>
          <a:solidFill>
            <a:schemeClr val="bg1"/>
          </a:solidFill>
        </p:spPr>
        <p:txBody>
          <a:bodyPr lIns="540000" rIns="540000" bIns="360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5000" b="1" i="0">
                <a:solidFill>
                  <a:srgbClr val="202C31"/>
                </a:solidFill>
                <a:latin typeface="Barlow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Ihr Projekt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635922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37FBE-4D6F-9BD5-117E-62052F63119B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3992373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6:9 Bild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  <a:p>
            <a:pPr>
              <a:lnSpc>
                <a:spcPts val="3375"/>
              </a:lnSpc>
            </a:pPr>
            <a:br>
              <a:rPr lang="de-DE" dirty="0">
                <a:effectLst/>
                <a:latin typeface="Barlow" pitchFamily="2" charset="77"/>
              </a:rPr>
            </a:b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8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6670632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17758778"/>
            <a:ext cx="9173429" cy="15597612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3370065"/>
            <a:ext cx="18745702" cy="9986325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6"/>
            <a:ext cx="6758386" cy="2526513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411033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804897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510012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6191597"/>
            <a:ext cx="16969030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8" y="29461160"/>
            <a:ext cx="24587522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6179871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Anordnung </a:t>
            </a:r>
            <a:r>
              <a:rPr lang="de-DE" dirty="0" err="1"/>
              <a:t>Bsp</a:t>
            </a:r>
            <a:endParaRPr lang="de-DE" dirty="0"/>
          </a:p>
          <a:p>
            <a:pPr lvl="0"/>
            <a:r>
              <a:rPr lang="de-DE" dirty="0"/>
              <a:t>Mit 16:9 Format Bildern</a:t>
            </a:r>
          </a:p>
        </p:txBody>
      </p:sp>
      <p:sp>
        <p:nvSpPr>
          <p:cNvPr id="2" name="Bildplatzhalter 10">
            <a:extLst>
              <a:ext uri="{FF2B5EF4-FFF2-40B4-BE49-F238E27FC236}">
                <a16:creationId xmlns:a16="http://schemas.microsoft.com/office/drawing/2014/main" id="{D8B3562A-1AD2-C569-2EFA-275430154DD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87759" y="12227130"/>
            <a:ext cx="18745702" cy="10724221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" name="Bildplatzhalter 10">
            <a:extLst>
              <a:ext uri="{FF2B5EF4-FFF2-40B4-BE49-F238E27FC236}">
                <a16:creationId xmlns:a16="http://schemas.microsoft.com/office/drawing/2014/main" id="{7F798A80-AE0F-522E-BDA1-46F451DFB45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660032" y="1085448"/>
            <a:ext cx="18745702" cy="10722969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6F5447-C85B-04FE-0ECA-F82B5FFD8871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  <p:sp>
        <p:nvSpPr>
          <p:cNvPr id="5" name="Bildplatzhalter 10">
            <a:extLst>
              <a:ext uri="{FF2B5EF4-FFF2-40B4-BE49-F238E27FC236}">
                <a16:creationId xmlns:a16="http://schemas.microsoft.com/office/drawing/2014/main" id="{4B0B13BE-F3FF-9F6B-9957-3AED6582D25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20231512" y="12227130"/>
            <a:ext cx="9173429" cy="5137785"/>
          </a:xfrm>
          <a:noFill/>
        </p:spPr>
        <p:txBody>
          <a:bodyPr lIns="0" tIns="0" rIns="0" bIns="0">
            <a:noAutofit/>
          </a:bodyPr>
          <a:lstStyle>
            <a:lvl1pPr marL="0" indent="0"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9957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>
          <p15:clr>
            <a:srgbClr val="FBAE40"/>
          </p15:clr>
        </p15:guide>
        <p15:guide id="2" pos="67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dline 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75518" y="34191597"/>
            <a:ext cx="17657944" cy="5225755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500"/>
              </a:lnSpc>
              <a:spcBef>
                <a:spcPts val="0"/>
              </a:spcBef>
              <a:buNone/>
              <a:defRPr sz="3000" b="0" i="0">
                <a:solidFill>
                  <a:schemeClr val="tx1"/>
                </a:solidFill>
                <a:latin typeface="Barlow" pitchFamily="2" charset="77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pPr>
              <a:lnSpc>
                <a:spcPts val="3375"/>
              </a:lnSpc>
            </a:pPr>
            <a:r>
              <a:rPr lang="de-DE" dirty="0">
                <a:effectLst/>
                <a:latin typeface="Barlow" pitchFamily="2" charset="77"/>
              </a:rPr>
              <a:t>Ca. 500 Zeichen Kurzbeschreibung Ihres Projekts. </a:t>
            </a:r>
            <a:r>
              <a:rPr lang="de-DE" dirty="0" err="1">
                <a:effectLst/>
                <a:latin typeface="Barlow" pitchFamily="2" charset="77"/>
              </a:rPr>
              <a:t>Lorem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ipsum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sit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amet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consectetuer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adipiscing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elit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commodo </a:t>
            </a:r>
            <a:r>
              <a:rPr lang="de-DE" dirty="0" err="1">
                <a:effectLst/>
                <a:latin typeface="Barlow" pitchFamily="2" charset="77"/>
              </a:rPr>
              <a:t>ligula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dolor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Aenean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. Cum </a:t>
            </a:r>
            <a:r>
              <a:rPr lang="de-DE" dirty="0" err="1">
                <a:effectLst/>
                <a:latin typeface="Barlow" pitchFamily="2" charset="77"/>
              </a:rPr>
              <a:t>sociis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natoque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penatibus</a:t>
            </a:r>
            <a:r>
              <a:rPr lang="de-DE" dirty="0">
                <a:effectLst/>
                <a:latin typeface="Barlow" pitchFamily="2" charset="77"/>
              </a:rPr>
              <a:t> et </a:t>
            </a:r>
            <a:r>
              <a:rPr lang="de-DE" dirty="0" err="1">
                <a:effectLst/>
                <a:latin typeface="Barlow" pitchFamily="2" charset="77"/>
              </a:rPr>
              <a:t>magnis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parturient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montes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nascetur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ridiculus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mus</a:t>
            </a:r>
            <a:r>
              <a:rPr lang="de-DE" dirty="0">
                <a:effectLst/>
                <a:latin typeface="Barlow" pitchFamily="2" charset="77"/>
              </a:rPr>
              <a:t>. </a:t>
            </a:r>
            <a:br>
              <a:rPr lang="de-DE" dirty="0">
                <a:effectLst/>
                <a:latin typeface="Barlow" pitchFamily="2" charset="77"/>
              </a:rPr>
            </a:br>
            <a:br>
              <a:rPr lang="de-DE" dirty="0">
                <a:effectLst/>
                <a:latin typeface="Barlow" pitchFamily="2" charset="77"/>
              </a:rPr>
            </a:b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quam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ultricies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pellentesque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sem</a:t>
            </a:r>
            <a:r>
              <a:rPr lang="de-DE" dirty="0">
                <a:effectLst/>
                <a:latin typeface="Barlow" pitchFamily="2" charset="77"/>
              </a:rPr>
              <a:t>. Nulla </a:t>
            </a:r>
            <a:r>
              <a:rPr lang="de-DE" dirty="0" err="1">
                <a:effectLst/>
                <a:latin typeface="Barlow" pitchFamily="2" charset="77"/>
              </a:rPr>
              <a:t>consequat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massa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quis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Donec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fringilla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vel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aliquet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nec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vulputate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eget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arcu</a:t>
            </a:r>
            <a:r>
              <a:rPr lang="de-DE" dirty="0">
                <a:effectLst/>
                <a:latin typeface="Barlow" pitchFamily="2" charset="77"/>
              </a:rPr>
              <a:t>. In </a:t>
            </a:r>
            <a:r>
              <a:rPr lang="de-DE" dirty="0" err="1">
                <a:effectLst/>
                <a:latin typeface="Barlow" pitchFamily="2" charset="77"/>
              </a:rPr>
              <a:t>enim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rhoncus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ut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imperdiet</a:t>
            </a:r>
            <a:r>
              <a:rPr lang="de-DE" dirty="0">
                <a:effectLst/>
                <a:latin typeface="Barlow" pitchFamily="2" charset="77"/>
              </a:rPr>
              <a:t> a, </a:t>
            </a:r>
            <a:r>
              <a:rPr lang="de-DE" dirty="0" err="1">
                <a:effectLst/>
                <a:latin typeface="Barlow" pitchFamily="2" charset="77"/>
              </a:rPr>
              <a:t>venenatis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vitae</a:t>
            </a:r>
            <a:r>
              <a:rPr lang="de-DE" dirty="0">
                <a:effectLst/>
                <a:latin typeface="Barlow" pitchFamily="2" charset="77"/>
              </a:rPr>
              <a:t>, </a:t>
            </a:r>
            <a:r>
              <a:rPr lang="de-DE" dirty="0" err="1">
                <a:effectLst/>
                <a:latin typeface="Barlow" pitchFamily="2" charset="77"/>
              </a:rPr>
              <a:t>justo</a:t>
            </a:r>
            <a:r>
              <a:rPr lang="de-DE" dirty="0">
                <a:effectLst/>
                <a:latin typeface="Barlow" pitchFamily="2" charset="77"/>
              </a:rPr>
              <a:t>. </a:t>
            </a:r>
            <a:r>
              <a:rPr lang="de-DE" dirty="0" err="1">
                <a:effectLst/>
                <a:latin typeface="Barlow" pitchFamily="2" charset="77"/>
              </a:rPr>
              <a:t>Nullam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dictum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felis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eu</a:t>
            </a:r>
            <a:r>
              <a:rPr lang="de-DE" dirty="0">
                <a:effectLst/>
                <a:latin typeface="Barlow" pitchFamily="2" charset="77"/>
              </a:rPr>
              <a:t> pede </a:t>
            </a:r>
            <a:r>
              <a:rPr lang="de-DE" dirty="0" err="1">
                <a:effectLst/>
                <a:latin typeface="Barlow" pitchFamily="2" charset="77"/>
              </a:rPr>
              <a:t>mollis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pretium</a:t>
            </a:r>
            <a:r>
              <a:rPr lang="de-DE" dirty="0">
                <a:effectLst/>
                <a:latin typeface="Barlow" pitchFamily="2" charset="77"/>
              </a:rPr>
              <a:t>. Integer </a:t>
            </a:r>
            <a:r>
              <a:rPr lang="de-DE" dirty="0" err="1">
                <a:effectLst/>
                <a:latin typeface="Barlow" pitchFamily="2" charset="77"/>
              </a:rPr>
              <a:t>tincidunt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Cras</a:t>
            </a:r>
            <a:r>
              <a:rPr lang="de-DE" dirty="0">
                <a:effectLst/>
                <a:latin typeface="Barlow" pitchFamily="2" charset="77"/>
              </a:rPr>
              <a:t> </a:t>
            </a:r>
            <a:r>
              <a:rPr lang="de-DE" dirty="0" err="1">
                <a:effectLst/>
                <a:latin typeface="Barlow" pitchFamily="2" charset="77"/>
              </a:rPr>
              <a:t>dapibu</a:t>
            </a:r>
            <a:r>
              <a:rPr lang="de-DE" dirty="0">
                <a:effectLst/>
                <a:latin typeface="Barlow" pitchFamily="2" charset="77"/>
              </a:rPr>
              <a:t>.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A4243CFE-7483-751D-A95A-87604B644A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87758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121BA24C-EAA1-D15F-2378-EA88BE41A40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660033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63A72105-6949-4D3C-9F1C-3DC656B7C96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0232305" y="1085449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5A0C1B43-93BD-1369-55B9-78D123ED129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87758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A539C70B-978F-B421-555A-571659146E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660033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D6DD2547-CCB3-CDFC-D75C-8FA0A0FEFE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232305" y="756127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4" name="Bildplatzhalter 10">
            <a:extLst>
              <a:ext uri="{FF2B5EF4-FFF2-40B4-BE49-F238E27FC236}">
                <a16:creationId xmlns:a16="http://schemas.microsoft.com/office/drawing/2014/main" id="{E5D0F8A4-80E6-D1F8-6204-FDECD3B90C6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87758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5" name="Bildplatzhalter 10">
            <a:extLst>
              <a:ext uri="{FF2B5EF4-FFF2-40B4-BE49-F238E27FC236}">
                <a16:creationId xmlns:a16="http://schemas.microsoft.com/office/drawing/2014/main" id="{9A0AA88C-B5F6-770F-5DAF-96D162796E5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660033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26" name="Bildplatzhalter 10">
            <a:extLst>
              <a:ext uri="{FF2B5EF4-FFF2-40B4-BE49-F238E27FC236}">
                <a16:creationId xmlns:a16="http://schemas.microsoft.com/office/drawing/2014/main" id="{92809CED-02AE-9F42-578F-B519F6AF012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0232305" y="14037108"/>
            <a:ext cx="9173429" cy="6042324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37" name="Bildplatzhalter 10">
            <a:extLst>
              <a:ext uri="{FF2B5EF4-FFF2-40B4-BE49-F238E27FC236}">
                <a16:creationId xmlns:a16="http://schemas.microsoft.com/office/drawing/2014/main" id="{768F6F9F-F88F-60F0-8FBF-E332C14705F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32305" y="20512939"/>
            <a:ext cx="9173429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43" name="Bildplatzhalter 10">
            <a:extLst>
              <a:ext uri="{FF2B5EF4-FFF2-40B4-BE49-F238E27FC236}">
                <a16:creationId xmlns:a16="http://schemas.microsoft.com/office/drawing/2014/main" id="{B24FB44E-0421-1E13-1A9D-49995E6B0E7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87759" y="20512938"/>
            <a:ext cx="18745702" cy="12590517"/>
          </a:xfrm>
          <a:noFill/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 i="0">
                <a:latin typeface="Barlow" pitchFamily="2" charset="77"/>
              </a:defRPr>
            </a:lvl1pPr>
          </a:lstStyle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E24D9B3-E65F-015A-CA24-6E6AC2D631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517" y="40445230"/>
            <a:ext cx="17657944" cy="1421597"/>
          </a:xfrm>
        </p:spPr>
        <p:txBody>
          <a:bodyPr lIns="0" tIns="0" rIns="0" bIns="0" anchor="b" anchorCtr="0">
            <a:noAutofit/>
          </a:bodyPr>
          <a:lstStyle>
            <a:lvl1pPr>
              <a:lnSpc>
                <a:spcPts val="3375"/>
              </a:lnSpc>
              <a:spcBef>
                <a:spcPts val="0"/>
              </a:spcBef>
              <a:defRPr b="0" i="1" baseline="0">
                <a:solidFill>
                  <a:schemeClr val="tx1"/>
                </a:solidFill>
                <a:latin typeface="Barlow" pitchFamily="2" charset="77"/>
              </a:defRPr>
            </a:lvl1pPr>
            <a:lvl2pPr>
              <a:defRPr b="0" i="0" baseline="0">
                <a:solidFill>
                  <a:schemeClr val="tx1"/>
                </a:solidFill>
                <a:latin typeface="Barlow" pitchFamily="2" charset="77"/>
              </a:defRPr>
            </a:lvl2pPr>
            <a:lvl3pPr>
              <a:defRPr b="0" i="0" baseline="0">
                <a:solidFill>
                  <a:schemeClr val="tx1"/>
                </a:solidFill>
                <a:latin typeface="Barlow" pitchFamily="2" charset="77"/>
              </a:defRPr>
            </a:lvl3pPr>
            <a:lvl4pPr>
              <a:defRPr b="0" i="0" baseline="0">
                <a:solidFill>
                  <a:schemeClr val="tx1"/>
                </a:solidFill>
                <a:latin typeface="Barlow" pitchFamily="2" charset="77"/>
              </a:defRPr>
            </a:lvl4pPr>
            <a:lvl5pPr>
              <a:defRPr b="0" i="0" baseline="0">
                <a:solidFill>
                  <a:schemeClr val="tx1"/>
                </a:solidFill>
                <a:latin typeface="Barlow" pitchFamily="2" charset="77"/>
              </a:defRPr>
            </a:lvl5pPr>
          </a:lstStyle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Vorname Nachname, Vorname Nachname, Vorname Nachname</a:t>
            </a:r>
            <a:endParaRPr lang="de-DE" dirty="0">
              <a:effectLst/>
              <a:latin typeface="Barlow" pitchFamily="2" charset="77"/>
            </a:endParaRPr>
          </a:p>
          <a:p>
            <a:pPr>
              <a:lnSpc>
                <a:spcPts val="3375"/>
              </a:lnSpc>
            </a:pPr>
            <a:r>
              <a:rPr lang="de-DE" i="1" dirty="0">
                <a:effectLst/>
                <a:latin typeface="Barlow" pitchFamily="2" charset="77"/>
              </a:rPr>
              <a:t>Hochschule RheinMain  //  Studiengang Name  //  X. Semester  //  Wintersemester 24/25</a:t>
            </a:r>
            <a:endParaRPr lang="de-DE" dirty="0">
              <a:effectLst/>
              <a:latin typeface="Barlow" pitchFamily="2" charset="77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BB2387B-F915-BC4B-39A0-A2CDECEBC34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647059" y="34112825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Projekt-Rahmen (optional):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F94090F3-A008-F93B-2960-08C79CF04E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647059" y="34506687"/>
            <a:ext cx="6758386" cy="2438964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Nullam</a:t>
            </a:r>
            <a:r>
              <a:rPr lang="de-DE" dirty="0"/>
              <a:t> </a:t>
            </a:r>
            <a:r>
              <a:rPr lang="de-DE" dirty="0" err="1"/>
              <a:t>dictum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 pede </a:t>
            </a:r>
            <a:r>
              <a:rPr lang="de-DE" dirty="0" err="1"/>
              <a:t>mollis</a:t>
            </a:r>
            <a:r>
              <a:rPr lang="de-DE" dirty="0"/>
              <a:t> </a:t>
            </a:r>
            <a:r>
              <a:rPr lang="de-DE" dirty="0" err="1"/>
              <a:t>pretium</a:t>
            </a:r>
            <a:r>
              <a:rPr lang="de-DE" dirty="0"/>
              <a:t>. Integer </a:t>
            </a:r>
            <a:r>
              <a:rPr lang="de-DE" dirty="0" err="1"/>
              <a:t>tincidunt</a:t>
            </a:r>
            <a:r>
              <a:rPr lang="de-DE" dirty="0"/>
              <a:t>. 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B775428A-38A3-92CD-AD22-C0D31C9415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647059" y="37244284"/>
            <a:ext cx="6758386" cy="393863"/>
          </a:xfrm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Betreuung (optional):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B383DC8-625B-BF7B-F738-4F2232E10E5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647059" y="37638148"/>
            <a:ext cx="6758386" cy="573321"/>
          </a:xfrm>
        </p:spPr>
        <p:txBody>
          <a:bodyPr lIns="0" tIns="0" rIns="0" bIns="0">
            <a:noAutofit/>
          </a:bodyPr>
          <a:lstStyle>
            <a:lvl1pPr>
              <a:lnSpc>
                <a:spcPct val="14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Prof. Dr. Vorname Nachname, HSRM / Name Studiengang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F3C1C96A-B91B-C0A7-4224-EC6203FD4DE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75518" y="24241077"/>
            <a:ext cx="9131932" cy="1266355"/>
          </a:xfrm>
          <a:solidFill>
            <a:srgbClr val="202C31"/>
          </a:solidFill>
        </p:spPr>
        <p:txBody>
          <a:bodyPr lIns="324000" tIns="0" rIns="324000" bIns="32400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500" b="0" i="0" cap="all" spc="300" baseline="0">
                <a:solidFill>
                  <a:schemeClr val="bg1"/>
                </a:solidFill>
                <a:latin typeface="Barlow Medium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Name </a:t>
            </a:r>
            <a:r>
              <a:rPr lang="de-DE" dirty="0" err="1"/>
              <a:t>lehrVeranstaltung</a:t>
            </a:r>
            <a:endParaRPr lang="de-DE" dirty="0"/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9213718D-9EBE-75DE-A8BE-FD339C41FDE9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175518" y="25922662"/>
            <a:ext cx="1874570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18" name="Inhaltsplatzhalter 16">
            <a:extLst>
              <a:ext uri="{FF2B5EF4-FFF2-40B4-BE49-F238E27FC236}">
                <a16:creationId xmlns:a16="http://schemas.microsoft.com/office/drawing/2014/main" id="{BBADA07D-F946-173A-5D74-8DBABF4151A3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5519" y="29192225"/>
            <a:ext cx="21677573" cy="2822163"/>
          </a:xfrm>
          <a:solidFill>
            <a:schemeClr val="bg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de-DE" dirty="0"/>
              <a:t>Balken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F258D53-724F-3D29-5D19-D102F932B79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93587" y="25910936"/>
            <a:ext cx="24587522" cy="5895707"/>
          </a:xfr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8000" b="1" i="0" u="none" baseline="0">
                <a:ln>
                  <a:noFill/>
                </a:ln>
                <a:solidFill>
                  <a:srgbClr val="202C31"/>
                </a:solidFill>
                <a:uFill>
                  <a:solidFill>
                    <a:srgbClr val="FF0000"/>
                  </a:solidFill>
                </a:uFill>
                <a:latin typeface="Barlow ExtraBold" pitchFamily="2" charset="77"/>
              </a:defRPr>
            </a:lvl1pPr>
            <a:lvl2pPr>
              <a:defRPr b="1" i="0">
                <a:latin typeface="Barlow" pitchFamily="2" charset="77"/>
              </a:defRPr>
            </a:lvl2pPr>
            <a:lvl3pPr>
              <a:defRPr b="1" i="0">
                <a:latin typeface="Barlow" pitchFamily="2" charset="77"/>
              </a:defRPr>
            </a:lvl3pPr>
            <a:lvl4pPr>
              <a:defRPr b="1" i="0">
                <a:latin typeface="Barlow" pitchFamily="2" charset="77"/>
              </a:defRPr>
            </a:lvl4pPr>
            <a:lvl5pPr>
              <a:defRPr b="1" i="0">
                <a:latin typeface="Barlow" pitchFamily="2" charset="77"/>
              </a:defRPr>
            </a:lvl5pPr>
          </a:lstStyle>
          <a:p>
            <a:pPr lvl="0"/>
            <a:r>
              <a:rPr lang="de-DE" dirty="0"/>
              <a:t>Projekt-Headline</a:t>
            </a:r>
          </a:p>
          <a:p>
            <a:pPr lvl="0"/>
            <a:r>
              <a:rPr lang="de-DE" dirty="0"/>
              <a:t>mit zwei Zeilen Text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E9216D5-CF31-4724-A88B-F7E98213F2CA}"/>
              </a:ext>
            </a:extLst>
          </p:cNvPr>
          <p:cNvSpPr txBox="1"/>
          <p:nvPr userDrawn="1"/>
        </p:nvSpPr>
        <p:spPr>
          <a:xfrm>
            <a:off x="-14020229" y="28273351"/>
            <a:ext cx="11854124" cy="1471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Hinweise:</a:t>
            </a:r>
          </a:p>
          <a:p>
            <a:endParaRPr lang="de-DE" sz="4000" dirty="0">
              <a:solidFill>
                <a:schemeClr val="accent5">
                  <a:lumMod val="60000"/>
                  <a:lumOff val="40000"/>
                </a:schemeClr>
              </a:solidFill>
              <a:latin typeface="Barlow" pitchFamily="2" charset="77"/>
            </a:endParaRP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Einheiten im Bildraster können zu größeren Bildern kombiniert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Hintergrundflächen bei Modultitel und Projekt-Headline müssen an die Textlänge angepasst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Bitte möglichst kurze Headlines mit „Eye-Catch“ Charakter verwenden – technisch komplexe Erläuterungen können im Text darunter stehen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Optional können einzelne Bildeinheiten auch mit Text als Bildunterschrift gefüllt werden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Beim PDF-Export unbedingt auf eine Konvertierung in CMYK-Druckfarben achten (z.B. Drucken als PDF &gt;  Save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as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Adobe PDF &gt; PDF/X-3:2002)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Nicht benötigte Vorlagen-Folien vorher aus der Datei löschen  </a:t>
            </a:r>
          </a:p>
          <a:p>
            <a:pPr marL="457200" indent="-457200"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Die Vorlage ist in DIN-A0 inkl. 3 mm </a:t>
            </a:r>
            <a:r>
              <a:rPr lang="de-DE" sz="40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Beschnittzugabe</a:t>
            </a:r>
            <a:r>
              <a:rPr lang="de-DE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Barlow" pitchFamily="2" charset="77"/>
              </a:rPr>
              <a:t> angelegt</a:t>
            </a:r>
          </a:p>
        </p:txBody>
      </p:sp>
    </p:spTree>
    <p:extLst>
      <p:ext uri="{BB962C8B-B14F-4D97-AF65-F5344CB8AC3E}">
        <p14:creationId xmlns:p14="http://schemas.microsoft.com/office/powerpoint/2010/main" val="64542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0" userDrawn="1">
          <p15:clr>
            <a:srgbClr val="FBAE40"/>
          </p15:clr>
        </p15:guide>
        <p15:guide id="2" pos="673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6373" y="2290408"/>
            <a:ext cx="26299954" cy="8315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6373" y="11451994"/>
            <a:ext cx="26299954" cy="27295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C46FFDE-4EBA-3FF6-FD7E-6289064A7EC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3581894" y="40138797"/>
            <a:ext cx="6321525" cy="254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0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62" r:id="rId3"/>
  </p:sldLayoutIdLst>
  <p:txStyles>
    <p:titleStyle>
      <a:lvl1pPr algn="l" defTabSz="3049250" rtl="0" eaLnBrk="1" latinLnBrk="0" hangingPunct="1">
        <a:lnSpc>
          <a:spcPct val="90000"/>
        </a:lnSpc>
        <a:spcBef>
          <a:spcPct val="0"/>
        </a:spcBef>
        <a:buNone/>
        <a:defRPr sz="14673" b="1" i="0" kern="1200">
          <a:solidFill>
            <a:schemeClr val="tx1"/>
          </a:solidFill>
          <a:latin typeface="Barlow" pitchFamily="2" charset="77"/>
          <a:ea typeface="+mj-ea"/>
          <a:cs typeface="+mj-cs"/>
        </a:defRPr>
      </a:lvl1pPr>
    </p:titleStyle>
    <p:bodyStyle>
      <a:lvl1pPr marL="0" indent="0" algn="l" defTabSz="304925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1pPr>
      <a:lvl2pPr marL="152462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2pPr>
      <a:lvl3pPr marL="304925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3pPr>
      <a:lvl4pPr marL="4573875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4pPr>
      <a:lvl5pPr marL="6098500" indent="0" algn="l" defTabSz="3049250" rtl="0" eaLnBrk="1" latinLnBrk="0" hangingPunct="1">
        <a:lnSpc>
          <a:spcPct val="120000"/>
        </a:lnSpc>
        <a:spcBef>
          <a:spcPts val="1667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Barlow" pitchFamily="2" charset="77"/>
          <a:ea typeface="+mn-ea"/>
          <a:cs typeface="+mn-cs"/>
        </a:defRPr>
      </a:lvl5pPr>
      <a:lvl6pPr marL="8385437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91006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1434686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959311" indent="-762312" algn="l" defTabSz="304925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1pPr>
      <a:lvl2pPr marL="152462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2pPr>
      <a:lvl3pPr marL="3049250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3pPr>
      <a:lvl4pPr marL="4573875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4pPr>
      <a:lvl5pPr marL="60984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5pPr>
      <a:lvl6pPr marL="762312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6pPr>
      <a:lvl7pPr marL="914774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7pPr>
      <a:lvl8pPr marL="10672374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8pPr>
      <a:lvl9pPr marL="12196999" algn="l" defTabSz="3049250" rtl="0" eaLnBrk="1" latinLnBrk="0" hangingPunct="1">
        <a:defRPr sz="60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Untertitel 18">
            <a:extLst>
              <a:ext uri="{FF2B5EF4-FFF2-40B4-BE49-F238E27FC236}">
                <a16:creationId xmlns:a16="http://schemas.microsoft.com/office/drawing/2014/main" id="{FFB439B4-8646-C478-C976-CBE3CD7E7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18 Versuchspersonen · 3 Domänen (Gaming, Gesundheit, Stadtplanung) · NASA-TLX · Shimmer3 GSR/PPG · Tobii Eye-Tracker</a:t>
            </a:r>
          </a:p>
          <a:p>
            <a:r>
              <a:rPr lang="de-DE" dirty="0"/>
              <a:t>Forschungsfrage: Hängt kognitive Beanspruchung vom Thema ab, und misst Bearbeitungszeit wirklich mentale Last?</a:t>
            </a:r>
          </a:p>
          <a:p>
            <a:r>
              <a:rPr lang="de-DE" dirty="0"/>
              <a:t>Ergebnis: Mentale Last ist themenunabhängig (1,7 Pkt. Unterschied). Frustration variiert stark (10 Pkt.). Bearbeitungszeit korreliert kaum mit mentaler Last (r = 0,03), aber messbar mit Frustration (r = 0,56).</a:t>
            </a:r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8CB7194A-662C-7FBB-C720-064D85E59E7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de-DE" dirty="0"/>
              <a:t>Jonas Kimmer  //  Hochschule RheinMain  //  Wirtschaftsinformatik M.Sc.  //  2026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73605C75-0F10-F80E-29B5-F7DCF266D0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de-DE" dirty="0"/>
              <a:t>Betreuung</a:t>
            </a:r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977F0AA3-48DF-22CD-DFC7-6965C374F2C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F0160F4B-2328-7AB1-D652-F4772B457E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F1BA13AA-1B92-1356-3A40-3C7B71D56D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de-DE" dirty="0"/>
              <a:t>M.Sc. Yasmina Tajja / HSRM Wirtschaftsinformatik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E7520816-FE56-ABC6-58B7-FD13597647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75518" y="24241077"/>
            <a:ext cx="9963473" cy="1266355"/>
          </a:xfrm>
        </p:spPr>
        <p:txBody>
          <a:bodyPr/>
          <a:lstStyle/>
          <a:p>
            <a:r>
              <a:rPr lang="de-DE" dirty="0"/>
              <a:t>Masterprojekt · Wirtschaftsinformatik M.Sc.</a:t>
            </a:r>
          </a:p>
        </p:txBody>
      </p:sp>
      <p:sp>
        <p:nvSpPr>
          <p:cNvPr id="38" name="Inhaltsplatzhalter 37">
            <a:extLst>
              <a:ext uri="{FF2B5EF4-FFF2-40B4-BE49-F238E27FC236}">
                <a16:creationId xmlns:a16="http://schemas.microsoft.com/office/drawing/2014/main" id="{A7427295-5F80-8ADB-4357-1F26736B71A0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9" name="Inhaltsplatzhalter 38">
            <a:extLst>
              <a:ext uri="{FF2B5EF4-FFF2-40B4-BE49-F238E27FC236}">
                <a16:creationId xmlns:a16="http://schemas.microsoft.com/office/drawing/2014/main" id="{C783FC12-5C38-F5DE-30C6-5C88249D91A7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25E60431-FFD3-B3FC-3E74-5B35868936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 dirty="0"/>
              <a:t>Kognitive Beanspruchung</a:t>
            </a:r>
          </a:p>
          <a:p>
            <a:r>
              <a:rPr lang="de-DE" dirty="0"/>
              <a:t>bei Datenvisualisierungen</a:t>
            </a:r>
          </a:p>
        </p:txBody>
      </p:sp>
      <p:pic>
        <p:nvPicPr>
          <p:cNvPr id="40" name="Picture 39" descr="paper1_scatter_fr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12960000" cy="10440000"/>
          </a:xfrm>
          <a:prstGeom prst="rect">
            <a:avLst/>
          </a:prstGeom>
        </p:spPr>
      </p:pic>
      <p:pic>
        <p:nvPicPr>
          <p:cNvPr id="41" name="Picture 40" descr="paper1_scatter_ment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0" y="12240000"/>
            <a:ext cx="12960000" cy="1044000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4760000" y="1080000"/>
            <a:ext cx="15120000" cy="6660000"/>
          </a:xfr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① Mentale Last – themenunabhängig</a:t>
            </a:r>
          </a:p>
          <a:p>
            <a:r>
              <a:rPr sz="1900" b="0">
                <a:solidFill>
                  <a:srgbClr val="FFFFFF"/>
                </a:solidFill>
              </a:rPr>
              <a:t>Gaming: 62 · Gesundheit: 63 · Stadtplanung: 63 Pkt.</a:t>
            </a:r>
          </a:p>
          <a:p>
            <a:r>
              <a:rPr sz="1900" b="0">
                <a:solidFill>
                  <a:srgbClr val="FFFFFF"/>
                </a:solidFill>
              </a:rPr>
              <a:t>Unterschied: nur 1,7 Punkte.</a:t>
            </a:r>
          </a:p>
          <a:p>
            <a:r>
              <a:rPr sz="1900" b="0">
                <a:solidFill>
                  <a:srgbClr val="FFFFFF"/>
                </a:solidFill>
              </a:rPr>
              <a:t>Fachwissen schützt nicht vor kognitiver Last.</a:t>
            </a:r>
          </a:p>
        </p:txBody>
      </p:sp>
      <p:sp>
        <p:nvSpPr>
          <p:cNvPr id="43" name="Rectangle 42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4760000" y="8280000"/>
            <a:ext cx="15120000" cy="6660000"/>
          </a:xfr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② Frustration – stark domänenabhängig</a:t>
            </a:r>
          </a:p>
          <a:p>
            <a:r>
              <a:rPr sz="1900" b="0">
                <a:solidFill>
                  <a:srgbClr val="FFFFFF"/>
                </a:solidFill>
              </a:rPr>
              <a:t>Gaming: 47 · Gesundheit: 44 · Stadtplanung: 37 Pkt.</a:t>
            </a:r>
          </a:p>
          <a:p>
            <a:r>
              <a:rPr sz="1900" b="0">
                <a:solidFill>
                  <a:srgbClr val="FFFFFF"/>
                </a:solidFill>
              </a:rPr>
              <a:t>10 Punkte Unterschied – 6× mehr als mentale Last.</a:t>
            </a:r>
          </a:p>
          <a:p>
            <a:r>
              <a:rPr sz="1900" b="0">
                <a:solidFill>
                  <a:srgbClr val="FFFFFF"/>
                </a:solidFill>
              </a:rPr>
              <a:t>Vertrautheit schützt nicht vor Frustration.</a:t>
            </a:r>
          </a:p>
        </p:txBody>
      </p:sp>
      <p:sp>
        <p:nvSpPr>
          <p:cNvPr id="44" name="Rectangle 43"/>
          <p:cNvSpPr/>
          <p:nvPr/>
        </p:nvSpPr>
        <p:spPr>
          <a:prstGeom prst="roundRect">
            <a:avLst>
              <a:gd name="adj" fmla="val 30000"/>
            </a:avLst>
          </a:prstGeom>
          <a:xfrm>
            <a:off x="14760000" y="15480000"/>
            <a:ext cx="15120000" cy="7200000"/>
          </a:xfr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8000" rIns="198000" tIns="162000" bIns="125999"/>
          <a:lstStyle/>
          <a:p>
            <a:pPr algn="ctr"/>
            <a:r>
              <a:rPr sz="2400" b="1">
                <a:solidFill>
                  <a:srgbClr val="FFFFFF"/>
                </a:solidFill>
              </a:rPr>
              <a:t>③ Bearbeitungszeit ≠ Kognitive Last</a:t>
            </a:r>
          </a:p>
          <a:p>
            <a:r>
              <a:rPr sz="1900" b="0">
                <a:solidFill>
                  <a:srgbClr val="FFFFFF"/>
                </a:solidFill>
              </a:rPr>
              <a:t>Korrelation Dauer × Mentale Last:  r = 0,03  (p = 0,82)</a:t>
            </a:r>
          </a:p>
          <a:p>
            <a:r>
              <a:rPr sz="1900" b="0">
                <a:solidFill>
                  <a:srgbClr val="FFFFFF"/>
                </a:solidFill>
              </a:rPr>
              <a:t>Korrelation Dauer × Frustration:  r = 0,56  (p &lt; 0,001)</a:t>
            </a:r>
          </a:p>
          <a:p>
            <a:r>
              <a:rPr sz="1900" b="0">
                <a:solidFill>
                  <a:srgbClr val="FFFFFF"/>
                </a:solidFill>
              </a:rPr>
              <a:t>Zeit sagt Frustration vorher – nicht mentale Anforderung.</a:t>
            </a:r>
          </a:p>
        </p:txBody>
      </p:sp>
    </p:spTree>
    <p:extLst>
      <p:ext uri="{BB962C8B-B14F-4D97-AF65-F5344CB8AC3E}">
        <p14:creationId xmlns:p14="http://schemas.microsoft.com/office/powerpoint/2010/main" val="321524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1584</Words>
  <Application>Microsoft Macintosh PowerPoint</Application>
  <PresentationFormat>Benutzerdefiniert</PresentationFormat>
  <Paragraphs>54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Barlow</vt:lpstr>
      <vt:lpstr>Barlow ExtraBold</vt:lpstr>
      <vt:lpstr>Barlow Medium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Pedersen</dc:creator>
  <cp:lastModifiedBy>Sebastian Pedersen</cp:lastModifiedBy>
  <cp:revision>23</cp:revision>
  <cp:lastPrinted>2025-01-26T21:51:04Z</cp:lastPrinted>
  <dcterms:created xsi:type="dcterms:W3CDTF">2025-01-25T18:47:30Z</dcterms:created>
  <dcterms:modified xsi:type="dcterms:W3CDTF">2025-12-04T17:38:25Z</dcterms:modified>
</cp:coreProperties>
</file>